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93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44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64008" cy="2834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194560" cy="329184"/>
          </a:xfrm>
          <a:prstGeom prst="rect">
            <a:avLst/>
          </a:prstGeom>
          <a:solidFill>
            <a:srgbClr val="0C355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Text 3"/>
          <p:cNvSpPr/>
          <p:nvPr/>
        </p:nvSpPr>
        <p:spPr>
          <a:xfrm>
            <a:off x="685800" y="114300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</a:t>
            </a:r>
            <a:endParaRPr lang="es-ES" sz="1000" noProof="0" dirty="0"/>
          </a:p>
        </p:txBody>
      </p:sp>
      <p:sp>
        <p:nvSpPr>
          <p:cNvPr id="6" name="Text 4"/>
          <p:cNvSpPr/>
          <p:nvPr/>
        </p:nvSpPr>
        <p:spPr>
          <a:xfrm>
            <a:off x="685800" y="1627632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46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Fake News Detector</a:t>
            </a:r>
            <a:endParaRPr lang="es-ES" sz="4600" noProof="0" dirty="0"/>
          </a:p>
        </p:txBody>
      </p:sp>
      <p:sp>
        <p:nvSpPr>
          <p:cNvPr id="7" name="Text 5"/>
          <p:cNvSpPr/>
          <p:nvPr/>
        </p:nvSpPr>
        <p:spPr>
          <a:xfrm>
            <a:off x="685800" y="267004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70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para detección de noticias falsas y sesgadas</a:t>
            </a:r>
            <a:endParaRPr lang="es-ES" sz="1700" noProof="0" dirty="0"/>
          </a:p>
        </p:txBody>
      </p:sp>
      <p:sp>
        <p:nvSpPr>
          <p:cNvPr id="8" name="Shape 6"/>
          <p:cNvSpPr/>
          <p:nvPr/>
        </p:nvSpPr>
        <p:spPr>
          <a:xfrm>
            <a:off x="685800" y="3310128"/>
            <a:ext cx="777240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685800" y="3474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kern="0" spc="3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s-ES" sz="900" noProof="0" dirty="0"/>
          </a:p>
        </p:txBody>
      </p:sp>
      <p:sp>
        <p:nvSpPr>
          <p:cNvPr id="10" name="Text 8"/>
          <p:cNvSpPr/>
          <p:nvPr/>
        </p:nvSpPr>
        <p:spPr>
          <a:xfrm>
            <a:off x="685800" y="376732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noProof="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Plaza  ·  Javier Herrera  ·  Eva Pombo  ·  Álvaro Moreno  ·  Irene Quesada</a:t>
            </a:r>
            <a:endParaRPr lang="es-ES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7178040" y="4572000"/>
            <a:ext cx="1691640" cy="384048"/>
          </a:xfrm>
          <a:prstGeom prst="rect">
            <a:avLst/>
          </a:prstGeom>
          <a:solidFill>
            <a:srgbClr val="0C355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7178040" y="4572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·  JADE 4.6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02920" y="228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</a:t>
            </a:r>
            <a:endParaRPr lang="es-ES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384048" y="1115568"/>
            <a:ext cx="40690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" name="Shape 3"/>
          <p:cNvSpPr/>
          <p:nvPr/>
        </p:nvSpPr>
        <p:spPr>
          <a:xfrm>
            <a:off x="384048" y="1115568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ES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s-ES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15910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 planteado</a:t>
            </a:r>
            <a:endParaRPr lang="es-ES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84048" y="2194560"/>
            <a:ext cx="40690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64008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ES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1188720" y="22860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s-ES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1188720" y="2670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queremos conseguir</a:t>
            </a:r>
            <a:endParaRPr lang="es-ES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384048" y="3273552"/>
            <a:ext cx="40690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384048" y="3273552"/>
            <a:ext cx="64008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s-ES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1188720" y="336499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s-ES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1188720" y="37490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mensajes entre agentes</a:t>
            </a:r>
            <a:endParaRPr lang="es-ES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736592" y="1115568"/>
            <a:ext cx="40690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Shape 18"/>
          <p:cNvSpPr/>
          <p:nvPr/>
        </p:nvSpPr>
        <p:spPr>
          <a:xfrm>
            <a:off x="4736592" y="1115568"/>
            <a:ext cx="6400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4901184" y="1115568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s-ES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5541264" y="12070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del proyecto</a:t>
            </a:r>
            <a:endParaRPr lang="es-ES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541264" y="159105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y </a:t>
            </a:r>
            <a:r>
              <a:rPr lang="es-ES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behaviours</a:t>
            </a:r>
            <a:endParaRPr lang="es-ES" sz="1100" noProof="0" dirty="0"/>
          </a:p>
        </p:txBody>
      </p:sp>
      <p:sp>
        <p:nvSpPr>
          <p:cNvPr id="24" name="Shape 22"/>
          <p:cNvSpPr/>
          <p:nvPr/>
        </p:nvSpPr>
        <p:spPr>
          <a:xfrm>
            <a:off x="4736592" y="2194560"/>
            <a:ext cx="4069080" cy="868680"/>
          </a:xfrm>
          <a:prstGeom prst="rect">
            <a:avLst/>
          </a:prstGeom>
          <a:solidFill>
            <a:srgbClr val="1E293B"/>
          </a:solidFill>
          <a:ln w="6350">
            <a:solidFill>
              <a:srgbClr val="2D3F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5" name="Shape 23"/>
          <p:cNvSpPr/>
          <p:nvPr/>
        </p:nvSpPr>
        <p:spPr>
          <a:xfrm>
            <a:off x="4736592" y="2194560"/>
            <a:ext cx="64008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Text 24"/>
          <p:cNvSpPr/>
          <p:nvPr/>
        </p:nvSpPr>
        <p:spPr>
          <a:xfrm>
            <a:off x="4901184" y="2194560"/>
            <a:ext cx="621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s-ES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5541264" y="228600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s-ES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5541264" y="2670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vamos a enseñar</a:t>
            </a:r>
            <a:endParaRPr lang="es-ES" sz="11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Descripción del proyecto</a:t>
            </a:r>
            <a:endParaRPr lang="es-ES" sz="2400" noProof="0" dirty="0"/>
          </a:p>
        </p:txBody>
      </p:sp>
      <p:sp>
        <p:nvSpPr>
          <p:cNvPr id="5" name="Text 3"/>
          <p:cNvSpPr/>
          <p:nvPr/>
        </p:nvSpPr>
        <p:spPr>
          <a:xfrm>
            <a:off x="256032" y="9144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s-ES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256032" y="1389888"/>
            <a:ext cx="155448" cy="1554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512064" y="1335024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proliferación de noticias falsas en internet representa un grave problema de credibilidad informativa a escala global.</a:t>
            </a:r>
            <a:endParaRPr lang="es-ES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256032" y="2139696"/>
            <a:ext cx="155448" cy="1554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512064" y="2084832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métodos manuales de verificación son lentos e </a:t>
            </a:r>
            <a:r>
              <a:rPr lang="es-ES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inescalables</a:t>
            </a: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ritmo actual de publicación.</a:t>
            </a:r>
            <a:endParaRPr lang="es-ES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256032" y="2889504"/>
            <a:ext cx="155448" cy="15544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512064" y="28346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necesita un sistema automático, modular y extensible capaz de analizar cada noticia desde múltiples perspectivas de forma simultánea.</a:t>
            </a:r>
            <a:endParaRPr lang="es-ES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4645152" y="886968"/>
            <a:ext cx="0" cy="397764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828032" y="914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600" b="1" noProof="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planteada</a:t>
            </a:r>
            <a:endParaRPr lang="es-ES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4828032" y="1353312"/>
            <a:ext cx="40050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Multi-Agente (MAS) en JADE donde cada agente tiene una responsabilidad específica y se comunica con los demás mediante mensajes FIPA-ACL asíncronos.</a:t>
            </a:r>
            <a:endParaRPr lang="es-ES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4828032" y="2240280"/>
            <a:ext cx="1901952" cy="438912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828032" y="22402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50" b="1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+ JADE 4.6</a:t>
            </a:r>
            <a:endParaRPr lang="es-ES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6912864" y="2240280"/>
            <a:ext cx="1901952" cy="438912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6"/>
          <p:cNvSpPr/>
          <p:nvPr/>
        </p:nvSpPr>
        <p:spPr>
          <a:xfrm>
            <a:off x="6912864" y="2240280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50" b="1" noProof="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FIPA-ACL</a:t>
            </a:r>
            <a:endParaRPr lang="es-ES" sz="1150" noProof="0" dirty="0"/>
          </a:p>
        </p:txBody>
      </p:sp>
      <p:sp>
        <p:nvSpPr>
          <p:cNvPr id="19" name="Shape 17"/>
          <p:cNvSpPr/>
          <p:nvPr/>
        </p:nvSpPr>
        <p:spPr>
          <a:xfrm>
            <a:off x="4828032" y="2807208"/>
            <a:ext cx="1901952" cy="438912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8"/>
          <p:cNvSpPr/>
          <p:nvPr/>
        </p:nvSpPr>
        <p:spPr>
          <a:xfrm>
            <a:off x="4828032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50" b="1" noProof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MAS</a:t>
            </a:r>
            <a:endParaRPr lang="es-ES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6912864" y="2807208"/>
            <a:ext cx="1901952" cy="438912"/>
          </a:xfrm>
          <a:prstGeom prst="rect">
            <a:avLst/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Text 20"/>
          <p:cNvSpPr/>
          <p:nvPr/>
        </p:nvSpPr>
        <p:spPr>
          <a:xfrm>
            <a:off x="6912864" y="2807208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150" b="1" noProof="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en Java</a:t>
            </a:r>
            <a:endParaRPr lang="es-ES" sz="1150" noProof="0" dirty="0"/>
          </a:p>
        </p:txBody>
      </p:sp>
      <p:sp>
        <p:nvSpPr>
          <p:cNvPr id="23" name="Shape 21"/>
          <p:cNvSpPr/>
          <p:nvPr/>
        </p:nvSpPr>
        <p:spPr>
          <a:xfrm>
            <a:off x="256032" y="4133088"/>
            <a:ext cx="19751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2"/>
          <p:cNvSpPr/>
          <p:nvPr/>
        </p:nvSpPr>
        <p:spPr>
          <a:xfrm>
            <a:off x="256032" y="41330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s-ES" sz="2800" noProof="0" dirty="0"/>
          </a:p>
        </p:txBody>
      </p:sp>
      <p:sp>
        <p:nvSpPr>
          <p:cNvPr id="25" name="Text 23"/>
          <p:cNvSpPr/>
          <p:nvPr/>
        </p:nvSpPr>
        <p:spPr>
          <a:xfrm>
            <a:off x="256032" y="45537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en total</a:t>
            </a:r>
            <a:endParaRPr lang="es-ES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2414016" y="4133088"/>
            <a:ext cx="19751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7" name="Text 25"/>
          <p:cNvSpPr/>
          <p:nvPr/>
        </p:nvSpPr>
        <p:spPr>
          <a:xfrm>
            <a:off x="2414016" y="41330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EA5E9"/>
                </a:solidFill>
                <a:latin typeface="Georgia" pitchFamily="34" charset="0"/>
              </a:rPr>
              <a:t>4</a:t>
            </a:r>
            <a:endParaRPr lang="es-ES" sz="2800" noProof="0" dirty="0"/>
          </a:p>
        </p:txBody>
      </p:sp>
      <p:sp>
        <p:nvSpPr>
          <p:cNvPr id="28" name="Text 26"/>
          <p:cNvSpPr/>
          <p:nvPr/>
        </p:nvSpPr>
        <p:spPr>
          <a:xfrm>
            <a:off x="2414016" y="45537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entrada</a:t>
            </a:r>
            <a:endParaRPr lang="es-ES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4572000" y="4133088"/>
            <a:ext cx="19751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Text 28"/>
          <p:cNvSpPr/>
          <p:nvPr/>
        </p:nvSpPr>
        <p:spPr>
          <a:xfrm>
            <a:off x="4572000" y="41330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s-ES" sz="2800" noProof="0" dirty="0"/>
          </a:p>
        </p:txBody>
      </p:sp>
      <p:sp>
        <p:nvSpPr>
          <p:cNvPr id="31" name="Text 29"/>
          <p:cNvSpPr/>
          <p:nvPr/>
        </p:nvSpPr>
        <p:spPr>
          <a:xfrm>
            <a:off x="4572000" y="45537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NLP</a:t>
            </a:r>
            <a:endParaRPr lang="es-ES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6729984" y="4133088"/>
            <a:ext cx="1975104" cy="8046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3" name="Text 31"/>
          <p:cNvSpPr/>
          <p:nvPr/>
        </p:nvSpPr>
        <p:spPr>
          <a:xfrm>
            <a:off x="6729984" y="4133088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s-ES" sz="2800" b="1" noProof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s-ES" sz="2800" noProof="0" dirty="0"/>
          </a:p>
        </p:txBody>
      </p:sp>
      <p:sp>
        <p:nvSpPr>
          <p:cNvPr id="34" name="Text 32"/>
          <p:cNvSpPr/>
          <p:nvPr/>
        </p:nvSpPr>
        <p:spPr>
          <a:xfrm>
            <a:off x="6729984" y="4553712"/>
            <a:ext cx="1975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credibilidad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Objetivos del proyecto</a:t>
            </a:r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187952" cy="1847088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418795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64008" cy="184708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438912" y="950976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MAS real</a:t>
            </a:r>
            <a:endParaRPr lang="es-ES" sz="1400" noProof="0" dirty="0"/>
          </a:p>
        </p:txBody>
      </p:sp>
      <p:sp>
        <p:nvSpPr>
          <p:cNvPr id="9" name="Text 7"/>
          <p:cNvSpPr/>
          <p:nvPr/>
        </p:nvSpPr>
        <p:spPr>
          <a:xfrm>
            <a:off x="438912" y="146304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sistema </a:t>
            </a:r>
            <a:r>
              <a:rPr lang="es-ES" sz="1200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multi-agente</a:t>
            </a:r>
            <a:r>
              <a:rPr lang="es-ES" sz="1200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funcional en JADE con agentes autónomos y coordinados que colaboran para resolver el problema.</a:t>
            </a:r>
            <a:endParaRPr lang="es-ES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4718304" y="914400"/>
            <a:ext cx="4187952" cy="184708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Shape 9"/>
          <p:cNvSpPr/>
          <p:nvPr/>
        </p:nvSpPr>
        <p:spPr>
          <a:xfrm>
            <a:off x="4718304" y="914400"/>
            <a:ext cx="4187952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Shape 10"/>
          <p:cNvSpPr/>
          <p:nvPr/>
        </p:nvSpPr>
        <p:spPr>
          <a:xfrm>
            <a:off x="4718304" y="914400"/>
            <a:ext cx="64008" cy="18470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3" name="Text 11"/>
          <p:cNvSpPr/>
          <p:nvPr/>
        </p:nvSpPr>
        <p:spPr>
          <a:xfrm>
            <a:off x="4901184" y="950976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Comunicación FIPA-ACL</a:t>
            </a:r>
            <a:endParaRPr lang="es-ES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4901184" y="146304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Mensajería asíncrona con performativas REQUEST e INFORM, correlación por </a:t>
            </a:r>
            <a:r>
              <a:rPr lang="es-ES" sz="1200" noProof="0" dirty="0" err="1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conversationId</a:t>
            </a:r>
            <a:r>
              <a:rPr lang="es-ES" sz="1200" noProof="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UUID único por noticia analizada.</a:t>
            </a:r>
            <a:endParaRPr lang="es-ES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256032" y="2926080"/>
            <a:ext cx="4187952" cy="184708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Shape 14"/>
          <p:cNvSpPr/>
          <p:nvPr/>
        </p:nvSpPr>
        <p:spPr>
          <a:xfrm>
            <a:off x="256032" y="2926080"/>
            <a:ext cx="41879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5"/>
          <p:cNvSpPr/>
          <p:nvPr/>
        </p:nvSpPr>
        <p:spPr>
          <a:xfrm>
            <a:off x="256032" y="2926080"/>
            <a:ext cx="64008" cy="18470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6"/>
          <p:cNvSpPr/>
          <p:nvPr/>
        </p:nvSpPr>
        <p:spPr>
          <a:xfrm>
            <a:off x="438912" y="2962656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Múltiples fuentes de entrada</a:t>
            </a:r>
            <a:endParaRPr lang="es-ES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438912" y="347472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adquisición de noticias desde fichero </a:t>
            </a:r>
            <a:r>
              <a:rPr lang="es-ES" sz="1200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r>
              <a:rPr lang="es-ES" sz="1200" noProof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local, desde un método que genera noticias de prueba, </a:t>
            </a:r>
            <a:r>
              <a:rPr lang="es-ES" sz="1200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r>
              <a:rPr lang="es-ES" sz="1200" noProof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RSS real y API externa (NewsAPI.org).</a:t>
            </a:r>
            <a:endParaRPr lang="es-ES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4718304" y="2926080"/>
            <a:ext cx="4187952" cy="184708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Shape 19"/>
          <p:cNvSpPr/>
          <p:nvPr/>
        </p:nvSpPr>
        <p:spPr>
          <a:xfrm>
            <a:off x="4718304" y="2926080"/>
            <a:ext cx="4187952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Shape 20"/>
          <p:cNvSpPr/>
          <p:nvPr/>
        </p:nvSpPr>
        <p:spPr>
          <a:xfrm>
            <a:off x="4718304" y="2926080"/>
            <a:ext cx="64008" cy="18470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3" name="Text 21"/>
          <p:cNvSpPr/>
          <p:nvPr/>
        </p:nvSpPr>
        <p:spPr>
          <a:xfrm>
            <a:off x="4901184" y="2962656"/>
            <a:ext cx="39593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 de credibilidad</a:t>
            </a:r>
            <a:endParaRPr lang="es-ES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4901184" y="3474720"/>
            <a:ext cx="3931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noProof="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puntuación ponderada: reputación (40%) + sesgo invertido (35%) + sentimiento invertido (25%). Veredicto final automático.</a:t>
            </a:r>
            <a:endParaRPr lang="es-ES" sz="12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Arquitectura del sistema</a:t>
            </a:r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" y="822960"/>
            <a:ext cx="199339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91440" y="82296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</a:t>
            </a:r>
            <a:endParaRPr lang="es-ES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" y="1143000"/>
            <a:ext cx="1993392" cy="603504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Shape 6"/>
          <p:cNvSpPr/>
          <p:nvPr/>
        </p:nvSpPr>
        <p:spPr>
          <a:xfrm>
            <a:off x="91440" y="1143000"/>
            <a:ext cx="54864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9" name="Text 7"/>
          <p:cNvSpPr/>
          <p:nvPr/>
        </p:nvSpPr>
        <p:spPr>
          <a:xfrm>
            <a:off x="201168" y="1143000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</a:t>
            </a:r>
            <a:endParaRPr lang="es-ES" sz="950" noProof="0" dirty="0"/>
          </a:p>
        </p:txBody>
      </p:sp>
      <p:sp>
        <p:nvSpPr>
          <p:cNvPr id="10" name="Shape 8"/>
          <p:cNvSpPr/>
          <p:nvPr/>
        </p:nvSpPr>
        <p:spPr>
          <a:xfrm>
            <a:off x="91440" y="1892808"/>
            <a:ext cx="1993392" cy="603504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Shape 9"/>
          <p:cNvSpPr/>
          <p:nvPr/>
        </p:nvSpPr>
        <p:spPr>
          <a:xfrm>
            <a:off x="91440" y="1892808"/>
            <a:ext cx="54864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2" name="Text 10"/>
          <p:cNvSpPr/>
          <p:nvPr/>
        </p:nvSpPr>
        <p:spPr>
          <a:xfrm>
            <a:off x="201168" y="1892808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AgenteAdquisicionFichero</a:t>
            </a:r>
            <a:endParaRPr lang="es-ES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91440" y="2642616"/>
            <a:ext cx="1993392" cy="603504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Shape 12"/>
          <p:cNvSpPr/>
          <p:nvPr/>
        </p:nvSpPr>
        <p:spPr>
          <a:xfrm>
            <a:off x="91440" y="2642616"/>
            <a:ext cx="54864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Text 13"/>
          <p:cNvSpPr/>
          <p:nvPr/>
        </p:nvSpPr>
        <p:spPr>
          <a:xfrm>
            <a:off x="201168" y="264261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AgenteAdquisicionRSS</a:t>
            </a:r>
            <a:endParaRPr lang="es-ES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91440" y="3392424"/>
            <a:ext cx="1993392" cy="603504"/>
          </a:xfrm>
          <a:prstGeom prst="rect">
            <a:avLst/>
          </a:prstGeom>
          <a:solidFill>
            <a:srgbClr val="E0F2FE"/>
          </a:solidFill>
          <a:ln w="9525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7" name="Shape 15"/>
          <p:cNvSpPr/>
          <p:nvPr/>
        </p:nvSpPr>
        <p:spPr>
          <a:xfrm>
            <a:off x="91440" y="3392424"/>
            <a:ext cx="54864" cy="60350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8" name="Text 16"/>
          <p:cNvSpPr/>
          <p:nvPr/>
        </p:nvSpPr>
        <p:spPr>
          <a:xfrm>
            <a:off x="201168" y="3392424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AgenteAdquisicionAPI</a:t>
            </a:r>
            <a:r>
              <a:rPr lang="es-ES" sz="950" b="1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*</a:t>
            </a:r>
            <a:endParaRPr lang="es-ES" sz="950" noProof="0" dirty="0"/>
          </a:p>
        </p:txBody>
      </p:sp>
      <p:sp>
        <p:nvSpPr>
          <p:cNvPr id="20" name="Shape 18"/>
          <p:cNvSpPr/>
          <p:nvPr/>
        </p:nvSpPr>
        <p:spPr>
          <a:xfrm>
            <a:off x="2121408" y="2414016"/>
            <a:ext cx="457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1" name="Text 19"/>
          <p:cNvSpPr/>
          <p:nvPr/>
        </p:nvSpPr>
        <p:spPr>
          <a:xfrm>
            <a:off x="2359152" y="2258568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EA5E9"/>
                </a:solidFill>
              </a:rPr>
              <a:t>▶</a:t>
            </a:r>
            <a:endParaRPr lang="es-ES" sz="1000" noProof="0" dirty="0"/>
          </a:p>
        </p:txBody>
      </p:sp>
      <p:sp>
        <p:nvSpPr>
          <p:cNvPr id="22" name="Text 20"/>
          <p:cNvSpPr/>
          <p:nvPr/>
        </p:nvSpPr>
        <p:spPr>
          <a:xfrm>
            <a:off x="2103120" y="251460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750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s-ES" sz="750" noProof="0" dirty="0"/>
          </a:p>
        </p:txBody>
      </p:sp>
      <p:sp>
        <p:nvSpPr>
          <p:cNvPr id="23" name="Shape 21"/>
          <p:cNvSpPr/>
          <p:nvPr/>
        </p:nvSpPr>
        <p:spPr>
          <a:xfrm>
            <a:off x="2606040" y="822960"/>
            <a:ext cx="1901952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2"/>
          <p:cNvSpPr/>
          <p:nvPr/>
        </p:nvSpPr>
        <p:spPr>
          <a:xfrm>
            <a:off x="2606040" y="82296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</a:t>
            </a:r>
            <a:endParaRPr lang="es-ES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2606040" y="1143000"/>
            <a:ext cx="1901952" cy="260604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6" name="Shape 24"/>
          <p:cNvSpPr/>
          <p:nvPr/>
        </p:nvSpPr>
        <p:spPr>
          <a:xfrm>
            <a:off x="2606040" y="1143000"/>
            <a:ext cx="64008" cy="2606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7" name="Text 25"/>
          <p:cNvSpPr/>
          <p:nvPr/>
        </p:nvSpPr>
        <p:spPr>
          <a:xfrm>
            <a:off x="2743200" y="12618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50" b="1" noProof="0" dirty="0">
                <a:solidFill>
                  <a:srgbClr val="3B07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AgenteCoordinador</a:t>
            </a:r>
            <a:endParaRPr lang="es-ES" sz="1150" noProof="0" dirty="0"/>
          </a:p>
        </p:txBody>
      </p:sp>
      <p:sp>
        <p:nvSpPr>
          <p:cNvPr id="28" name="Shape 26"/>
          <p:cNvSpPr/>
          <p:nvPr/>
        </p:nvSpPr>
        <p:spPr>
          <a:xfrm>
            <a:off x="2743200" y="1691640"/>
            <a:ext cx="1572768" cy="0"/>
          </a:xfrm>
          <a:prstGeom prst="line">
            <a:avLst/>
          </a:prstGeom>
          <a:noFill/>
          <a:ln w="635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9" name="Text 27"/>
          <p:cNvSpPr/>
          <p:nvPr/>
        </p:nvSpPr>
        <p:spPr>
          <a:xfrm>
            <a:off x="2743200" y="17830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RecibirNoticiasBehaviour</a:t>
            </a:r>
            <a:endParaRPr lang="es-ES" sz="950" noProof="0" dirty="0"/>
          </a:p>
        </p:txBody>
      </p:sp>
      <p:sp>
        <p:nvSpPr>
          <p:cNvPr id="30" name="Text 28"/>
          <p:cNvSpPr/>
          <p:nvPr/>
        </p:nvSpPr>
        <p:spPr>
          <a:xfrm>
            <a:off x="2743200" y="22128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DelegarAnalisisBehaviour</a:t>
            </a:r>
            <a:endParaRPr lang="es-ES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2743200" y="264261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AgregarResultadosBehaviour</a:t>
            </a:r>
            <a:endParaRPr lang="es-ES" sz="950" noProof="0" dirty="0"/>
          </a:p>
        </p:txBody>
      </p:sp>
      <p:sp>
        <p:nvSpPr>
          <p:cNvPr id="32" name="Text 30"/>
          <p:cNvSpPr/>
          <p:nvPr/>
        </p:nvSpPr>
        <p:spPr>
          <a:xfrm>
            <a:off x="2743200" y="307238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ES" sz="850" noProof="0" dirty="0" err="1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blockingReceive</a:t>
            </a:r>
            <a:r>
              <a:rPr lang="es-ES" sz="850" noProof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3  — REQUISITO)</a:t>
            </a:r>
            <a:endParaRPr lang="es-ES" sz="850" noProof="0" dirty="0"/>
          </a:p>
        </p:txBody>
      </p:sp>
      <p:sp>
        <p:nvSpPr>
          <p:cNvPr id="33" name="Shape 31"/>
          <p:cNvSpPr/>
          <p:nvPr/>
        </p:nvSpPr>
        <p:spPr>
          <a:xfrm>
            <a:off x="4544568" y="19202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4" name="Text 32"/>
          <p:cNvSpPr/>
          <p:nvPr/>
        </p:nvSpPr>
        <p:spPr>
          <a:xfrm>
            <a:off x="4754880" y="176479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D9488"/>
                </a:solidFill>
              </a:rPr>
              <a:t>▶</a:t>
            </a:r>
            <a:endParaRPr lang="es-ES" sz="1000" noProof="0" dirty="0"/>
          </a:p>
        </p:txBody>
      </p:sp>
      <p:sp>
        <p:nvSpPr>
          <p:cNvPr id="35" name="Text 33"/>
          <p:cNvSpPr/>
          <p:nvPr/>
        </p:nvSpPr>
        <p:spPr>
          <a:xfrm>
            <a:off x="4526280" y="20116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700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s-ES" sz="700" noProof="0" dirty="0"/>
          </a:p>
        </p:txBody>
      </p:sp>
      <p:sp>
        <p:nvSpPr>
          <p:cNvPr id="36" name="Shape 34"/>
          <p:cNvSpPr/>
          <p:nvPr/>
        </p:nvSpPr>
        <p:spPr>
          <a:xfrm>
            <a:off x="4544568" y="2834640"/>
            <a:ext cx="438912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7" name="Text 35"/>
          <p:cNvSpPr/>
          <p:nvPr/>
        </p:nvSpPr>
        <p:spPr>
          <a:xfrm>
            <a:off x="4526280" y="2679192"/>
            <a:ext cx="256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D9488"/>
                </a:solidFill>
              </a:rPr>
              <a:t>◀</a:t>
            </a:r>
            <a:endParaRPr lang="es-ES" sz="1000" noProof="0" dirty="0"/>
          </a:p>
        </p:txBody>
      </p:sp>
      <p:sp>
        <p:nvSpPr>
          <p:cNvPr id="38" name="Text 36"/>
          <p:cNvSpPr/>
          <p:nvPr/>
        </p:nvSpPr>
        <p:spPr>
          <a:xfrm>
            <a:off x="4526280" y="292608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700" noProof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s-ES" sz="700" noProof="0" dirty="0"/>
          </a:p>
        </p:txBody>
      </p:sp>
      <p:sp>
        <p:nvSpPr>
          <p:cNvPr id="39" name="Shape 37"/>
          <p:cNvSpPr/>
          <p:nvPr/>
        </p:nvSpPr>
        <p:spPr>
          <a:xfrm>
            <a:off x="5029200" y="822960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0" name="Text 38"/>
          <p:cNvSpPr/>
          <p:nvPr/>
        </p:nvSpPr>
        <p:spPr>
          <a:xfrm>
            <a:off x="5029200" y="8229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b="1" kern="0" spc="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NLP</a:t>
            </a:r>
            <a:endParaRPr lang="es-ES" sz="900" noProof="0" dirty="0"/>
          </a:p>
        </p:txBody>
      </p:sp>
      <p:sp>
        <p:nvSpPr>
          <p:cNvPr id="41" name="Shape 39"/>
          <p:cNvSpPr/>
          <p:nvPr/>
        </p:nvSpPr>
        <p:spPr>
          <a:xfrm>
            <a:off x="5029200" y="1143000"/>
            <a:ext cx="19202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2" name="Shape 40"/>
          <p:cNvSpPr/>
          <p:nvPr/>
        </p:nvSpPr>
        <p:spPr>
          <a:xfrm>
            <a:off x="5029200" y="114300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3" name="Text 41"/>
          <p:cNvSpPr/>
          <p:nvPr/>
        </p:nvSpPr>
        <p:spPr>
          <a:xfrm>
            <a:off x="5138928" y="118872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AgenteSentimiento</a:t>
            </a:r>
            <a:endParaRPr lang="es-ES" sz="950" noProof="0" dirty="0"/>
          </a:p>
        </p:txBody>
      </p:sp>
      <p:sp>
        <p:nvSpPr>
          <p:cNvPr id="44" name="Text 42"/>
          <p:cNvSpPr/>
          <p:nvPr/>
        </p:nvSpPr>
        <p:spPr>
          <a:xfrm>
            <a:off x="5138928" y="15270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noProof="0" dirty="0" err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AnalizadorSentimiento</a:t>
            </a:r>
            <a:endParaRPr lang="es-ES" sz="850" noProof="0" dirty="0"/>
          </a:p>
        </p:txBody>
      </p:sp>
      <p:sp>
        <p:nvSpPr>
          <p:cNvPr id="45" name="Shape 43"/>
          <p:cNvSpPr/>
          <p:nvPr/>
        </p:nvSpPr>
        <p:spPr>
          <a:xfrm>
            <a:off x="5029200" y="1965960"/>
            <a:ext cx="19202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6" name="Shape 44"/>
          <p:cNvSpPr/>
          <p:nvPr/>
        </p:nvSpPr>
        <p:spPr>
          <a:xfrm>
            <a:off x="5029200" y="196596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7" name="Text 45"/>
          <p:cNvSpPr/>
          <p:nvPr/>
        </p:nvSpPr>
        <p:spPr>
          <a:xfrm>
            <a:off x="5138928" y="201168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AgenteDetectorSesgo</a:t>
            </a:r>
            <a:endParaRPr lang="es-ES" sz="950" noProof="0" dirty="0"/>
          </a:p>
        </p:txBody>
      </p:sp>
      <p:sp>
        <p:nvSpPr>
          <p:cNvPr id="48" name="Text 46"/>
          <p:cNvSpPr/>
          <p:nvPr/>
        </p:nvSpPr>
        <p:spPr>
          <a:xfrm>
            <a:off x="5138928" y="23500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noProof="0" dirty="0" err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DetectorPalabrasClave</a:t>
            </a:r>
            <a:endParaRPr lang="es-ES" sz="850" noProof="0" dirty="0"/>
          </a:p>
        </p:txBody>
      </p:sp>
      <p:sp>
        <p:nvSpPr>
          <p:cNvPr id="49" name="Shape 47"/>
          <p:cNvSpPr/>
          <p:nvPr/>
        </p:nvSpPr>
        <p:spPr>
          <a:xfrm>
            <a:off x="5029200" y="2788920"/>
            <a:ext cx="19202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0" name="Shape 48"/>
          <p:cNvSpPr/>
          <p:nvPr/>
        </p:nvSpPr>
        <p:spPr>
          <a:xfrm>
            <a:off x="5029200" y="278892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1" name="Text 49"/>
          <p:cNvSpPr/>
          <p:nvPr/>
        </p:nvSpPr>
        <p:spPr>
          <a:xfrm>
            <a:off x="5138928" y="2834640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AgenteVerificadorFuente</a:t>
            </a:r>
            <a:endParaRPr lang="es-ES" sz="950" noProof="0" dirty="0"/>
          </a:p>
        </p:txBody>
      </p:sp>
      <p:sp>
        <p:nvSpPr>
          <p:cNvPr id="52" name="Text 50"/>
          <p:cNvSpPr/>
          <p:nvPr/>
        </p:nvSpPr>
        <p:spPr>
          <a:xfrm>
            <a:off x="5138928" y="317296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noProof="0" dirty="0" err="1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BDReputacionFuente</a:t>
            </a:r>
            <a:endParaRPr lang="es-ES" sz="850" noProof="0" dirty="0"/>
          </a:p>
        </p:txBody>
      </p:sp>
      <p:sp>
        <p:nvSpPr>
          <p:cNvPr id="53" name="Shape 51"/>
          <p:cNvSpPr/>
          <p:nvPr/>
        </p:nvSpPr>
        <p:spPr>
          <a:xfrm>
            <a:off x="3557016" y="3785616"/>
            <a:ext cx="0" cy="347472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4" name="Text 52"/>
          <p:cNvSpPr/>
          <p:nvPr/>
        </p:nvSpPr>
        <p:spPr>
          <a:xfrm>
            <a:off x="3429000" y="39776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000" noProof="0" dirty="0">
                <a:solidFill>
                  <a:srgbClr val="059669"/>
                </a:solidFill>
              </a:rPr>
              <a:t>▼</a:t>
            </a:r>
            <a:endParaRPr lang="es-ES" sz="1000" noProof="0" dirty="0"/>
          </a:p>
        </p:txBody>
      </p:sp>
      <p:sp>
        <p:nvSpPr>
          <p:cNvPr id="55" name="Shape 53"/>
          <p:cNvSpPr/>
          <p:nvPr/>
        </p:nvSpPr>
        <p:spPr>
          <a:xfrm>
            <a:off x="2606040" y="4206240"/>
            <a:ext cx="1901952" cy="65836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6" name="Shape 54"/>
          <p:cNvSpPr/>
          <p:nvPr/>
        </p:nvSpPr>
        <p:spPr>
          <a:xfrm>
            <a:off x="2606040" y="4206240"/>
            <a:ext cx="64008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7" name="Text 55"/>
          <p:cNvSpPr/>
          <p:nvPr/>
        </p:nvSpPr>
        <p:spPr>
          <a:xfrm>
            <a:off x="2743200" y="4206240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AgenteVisualizacion</a:t>
            </a:r>
            <a:endParaRPr lang="es-ES" sz="1000" noProof="0" dirty="0"/>
          </a:p>
        </p:txBody>
      </p:sp>
      <p:sp>
        <p:nvSpPr>
          <p:cNvPr id="58" name="Shape 56"/>
          <p:cNvSpPr/>
          <p:nvPr/>
        </p:nvSpPr>
        <p:spPr>
          <a:xfrm>
            <a:off x="7132320" y="822960"/>
            <a:ext cx="1874520" cy="40416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59" name="Shape 57"/>
          <p:cNvSpPr/>
          <p:nvPr/>
        </p:nvSpPr>
        <p:spPr>
          <a:xfrm>
            <a:off x="7132320" y="822960"/>
            <a:ext cx="18745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0" name="Text 58"/>
          <p:cNvSpPr/>
          <p:nvPr/>
        </p:nvSpPr>
        <p:spPr>
          <a:xfrm>
            <a:off x="7223760" y="82296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</a:t>
            </a:r>
            <a:endParaRPr lang="es-ES" sz="1000" noProof="0" dirty="0"/>
          </a:p>
        </p:txBody>
      </p:sp>
      <p:sp>
        <p:nvSpPr>
          <p:cNvPr id="61" name="Text 59"/>
          <p:cNvSpPr/>
          <p:nvPr/>
        </p:nvSpPr>
        <p:spPr>
          <a:xfrm>
            <a:off x="7223760" y="123444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final:</a:t>
            </a:r>
            <a:endParaRPr lang="es-ES" sz="950" noProof="0" dirty="0"/>
          </a:p>
        </p:txBody>
      </p:sp>
      <p:sp>
        <p:nvSpPr>
          <p:cNvPr id="62" name="Text 60"/>
          <p:cNvSpPr/>
          <p:nvPr/>
        </p:nvSpPr>
        <p:spPr>
          <a:xfrm>
            <a:off x="7223760" y="153619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Reputación  </a:t>
            </a: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0.40</a:t>
            </a:r>
            <a:endParaRPr lang="es-ES" sz="950" noProof="0" dirty="0"/>
          </a:p>
        </p:txBody>
      </p:sp>
      <p:sp>
        <p:nvSpPr>
          <p:cNvPr id="63" name="Text 61"/>
          <p:cNvSpPr/>
          <p:nvPr/>
        </p:nvSpPr>
        <p:spPr>
          <a:xfrm>
            <a:off x="7223760" y="188366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(inv.)  </a:t>
            </a: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0.35</a:t>
            </a:r>
            <a:endParaRPr lang="es-ES" sz="950" noProof="0" dirty="0"/>
          </a:p>
        </p:txBody>
      </p:sp>
      <p:sp>
        <p:nvSpPr>
          <p:cNvPr id="64" name="Text 62"/>
          <p:cNvSpPr/>
          <p:nvPr/>
        </p:nvSpPr>
        <p:spPr>
          <a:xfrm>
            <a:off x="7223760" y="223113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Sentimiento (inv.)  </a:t>
            </a: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0.25</a:t>
            </a:r>
            <a:endParaRPr lang="es-ES" sz="950" noProof="0" dirty="0"/>
          </a:p>
        </p:txBody>
      </p:sp>
      <p:sp>
        <p:nvSpPr>
          <p:cNvPr id="65" name="Shape 63"/>
          <p:cNvSpPr/>
          <p:nvPr/>
        </p:nvSpPr>
        <p:spPr>
          <a:xfrm>
            <a:off x="7223760" y="2633472"/>
            <a:ext cx="162763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6" name="Text 64"/>
          <p:cNvSpPr/>
          <p:nvPr/>
        </p:nvSpPr>
        <p:spPr>
          <a:xfrm>
            <a:off x="7223760" y="26974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Veredictos:</a:t>
            </a:r>
            <a:endParaRPr lang="es-ES" sz="950" noProof="0" dirty="0"/>
          </a:p>
        </p:txBody>
      </p:sp>
      <p:sp>
        <p:nvSpPr>
          <p:cNvPr id="67" name="Shape 65"/>
          <p:cNvSpPr/>
          <p:nvPr/>
        </p:nvSpPr>
        <p:spPr>
          <a:xfrm>
            <a:off x="7205472" y="3035808"/>
            <a:ext cx="1719072" cy="420624"/>
          </a:xfrm>
          <a:prstGeom prst="rect">
            <a:avLst/>
          </a:prstGeom>
          <a:solidFill>
            <a:srgbClr val="064E3B"/>
          </a:solidFill>
          <a:ln w="9525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8" name="Text 66"/>
          <p:cNvSpPr/>
          <p:nvPr/>
        </p:nvSpPr>
        <p:spPr>
          <a:xfrm>
            <a:off x="7269480" y="3035808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</a:t>
            </a:r>
            <a:endParaRPr lang="es-ES" sz="900" noProof="0" dirty="0"/>
          </a:p>
        </p:txBody>
      </p:sp>
      <p:sp>
        <p:nvSpPr>
          <p:cNvPr id="69" name="Text 67"/>
          <p:cNvSpPr/>
          <p:nvPr/>
        </p:nvSpPr>
        <p:spPr>
          <a:xfrm>
            <a:off x="8275320" y="30358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0.70</a:t>
            </a:r>
            <a:endParaRPr lang="es-ES" sz="1000" noProof="0" dirty="0"/>
          </a:p>
        </p:txBody>
      </p:sp>
      <p:sp>
        <p:nvSpPr>
          <p:cNvPr id="70" name="Shape 68"/>
          <p:cNvSpPr/>
          <p:nvPr/>
        </p:nvSpPr>
        <p:spPr>
          <a:xfrm>
            <a:off x="7205472" y="3566160"/>
            <a:ext cx="1719072" cy="420624"/>
          </a:xfrm>
          <a:prstGeom prst="rect">
            <a:avLst/>
          </a:prstGeom>
          <a:solidFill>
            <a:srgbClr val="451A03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1" name="Text 69"/>
          <p:cNvSpPr/>
          <p:nvPr/>
        </p:nvSpPr>
        <p:spPr>
          <a:xfrm>
            <a:off x="7269480" y="3566160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noProof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SOSPECHOSO</a:t>
            </a:r>
            <a:endParaRPr lang="es-ES" sz="900" noProof="0" dirty="0"/>
          </a:p>
        </p:txBody>
      </p:sp>
      <p:sp>
        <p:nvSpPr>
          <p:cNvPr id="72" name="Text 70"/>
          <p:cNvSpPr/>
          <p:nvPr/>
        </p:nvSpPr>
        <p:spPr>
          <a:xfrm>
            <a:off x="8275320" y="3566160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0.40</a:t>
            </a:r>
            <a:endParaRPr lang="es-ES" sz="1000" noProof="0" dirty="0"/>
          </a:p>
        </p:txBody>
      </p:sp>
      <p:sp>
        <p:nvSpPr>
          <p:cNvPr id="73" name="Shape 71"/>
          <p:cNvSpPr/>
          <p:nvPr/>
        </p:nvSpPr>
        <p:spPr>
          <a:xfrm>
            <a:off x="7205472" y="4096512"/>
            <a:ext cx="1719072" cy="420624"/>
          </a:xfrm>
          <a:prstGeom prst="rect">
            <a:avLst/>
          </a:prstGeom>
          <a:solidFill>
            <a:srgbClr val="4C0519"/>
          </a:solidFill>
          <a:ln w="952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4" name="Text 72"/>
          <p:cNvSpPr/>
          <p:nvPr/>
        </p:nvSpPr>
        <p:spPr>
          <a:xfrm>
            <a:off x="7269480" y="4096512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b="1" noProof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CONFIABLE</a:t>
            </a:r>
            <a:endParaRPr lang="es-ES" sz="900" noProof="0" dirty="0"/>
          </a:p>
        </p:txBody>
      </p:sp>
      <p:sp>
        <p:nvSpPr>
          <p:cNvPr id="75" name="Text 73"/>
          <p:cNvSpPr/>
          <p:nvPr/>
        </p:nvSpPr>
        <p:spPr>
          <a:xfrm>
            <a:off x="8275320" y="4096512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1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0.40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Estructura del proyecto — Agentes</a:t>
            </a:r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164592" y="896112"/>
            <a:ext cx="4251960" cy="1938528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Shape 4"/>
          <p:cNvSpPr/>
          <p:nvPr/>
        </p:nvSpPr>
        <p:spPr>
          <a:xfrm>
            <a:off x="164592" y="896112"/>
            <a:ext cx="4251960" cy="4206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Shape 5"/>
          <p:cNvSpPr/>
          <p:nvPr/>
        </p:nvSpPr>
        <p:spPr>
          <a:xfrm>
            <a:off x="164592" y="896112"/>
            <a:ext cx="64008" cy="19385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329184" y="89611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Adquisición  (×4)</a:t>
            </a:r>
            <a:endParaRPr lang="es-ES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</a:t>
            </a:r>
            <a:endParaRPr lang="es-ES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347472" y="170078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AgenteAdquisicionFichero</a:t>
            </a:r>
            <a:endParaRPr lang="es-ES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347472" y="200253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AgenteAdquisicionRSS</a:t>
            </a:r>
            <a:endParaRPr lang="es-ES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347472" y="23042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AgenteAdquisicionAPI</a:t>
            </a:r>
            <a:r>
              <a:rPr lang="es-ES" sz="1100" b="1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ES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690872" y="896112"/>
            <a:ext cx="4251960" cy="193852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4" name="Shape 12"/>
          <p:cNvSpPr/>
          <p:nvPr/>
        </p:nvSpPr>
        <p:spPr>
          <a:xfrm>
            <a:off x="4690872" y="896112"/>
            <a:ext cx="425196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5" name="Shape 13"/>
          <p:cNvSpPr/>
          <p:nvPr/>
        </p:nvSpPr>
        <p:spPr>
          <a:xfrm>
            <a:off x="4690872" y="896112"/>
            <a:ext cx="64008" cy="19385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6" name="Text 14"/>
          <p:cNvSpPr/>
          <p:nvPr/>
        </p:nvSpPr>
        <p:spPr>
          <a:xfrm>
            <a:off x="4855464" y="89611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Coordinación  (×1)</a:t>
            </a:r>
            <a:endParaRPr lang="es-ES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4873752" y="139903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B07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AgenteCoordinador</a:t>
            </a:r>
            <a:endParaRPr lang="es-ES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4873752" y="170078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Mapa </a:t>
            </a:r>
            <a:r>
              <a:rPr lang="es-ES" sz="10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pendingReports</a:t>
            </a:r>
            <a:endParaRPr lang="es-ES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873752" y="200253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Correlación por UUID</a:t>
            </a:r>
            <a:endParaRPr lang="es-ES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4873752" y="230428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Motor central del sistema</a:t>
            </a:r>
            <a:endParaRPr lang="es-ES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164592" y="2999232"/>
            <a:ext cx="4251960" cy="1938528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2" name="Shape 20"/>
          <p:cNvSpPr/>
          <p:nvPr/>
        </p:nvSpPr>
        <p:spPr>
          <a:xfrm>
            <a:off x="164592" y="2999232"/>
            <a:ext cx="425196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3" name="Shape 21"/>
          <p:cNvSpPr/>
          <p:nvPr/>
        </p:nvSpPr>
        <p:spPr>
          <a:xfrm>
            <a:off x="164592" y="2999232"/>
            <a:ext cx="64008" cy="19385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4" name="Text 22"/>
          <p:cNvSpPr/>
          <p:nvPr/>
        </p:nvSpPr>
        <p:spPr>
          <a:xfrm>
            <a:off x="329184" y="299923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Especialistas NLP  (×3)</a:t>
            </a:r>
            <a:endParaRPr lang="es-ES" sz="1300" noProof="0" dirty="0"/>
          </a:p>
        </p:txBody>
      </p:sp>
      <p:sp>
        <p:nvSpPr>
          <p:cNvPr id="25" name="Text 23"/>
          <p:cNvSpPr/>
          <p:nvPr/>
        </p:nvSpPr>
        <p:spPr>
          <a:xfrm>
            <a:off x="347472" y="350215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AgenteSentimiento</a:t>
            </a:r>
            <a:endParaRPr lang="es-ES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347472" y="380390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AgenteDetectorSesgo</a:t>
            </a:r>
            <a:endParaRPr lang="es-ES" sz="1100" noProof="0" dirty="0"/>
          </a:p>
        </p:txBody>
      </p:sp>
      <p:sp>
        <p:nvSpPr>
          <p:cNvPr id="27" name="Text 25"/>
          <p:cNvSpPr/>
          <p:nvPr/>
        </p:nvSpPr>
        <p:spPr>
          <a:xfrm>
            <a:off x="347472" y="410565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AgenteVerificadorFuente</a:t>
            </a:r>
            <a:endParaRPr lang="es-ES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347472" y="440740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Patrón idéntico en los 3</a:t>
            </a:r>
            <a:endParaRPr lang="es-ES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4690872" y="2999232"/>
            <a:ext cx="4251960" cy="193852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0" name="Shape 28"/>
          <p:cNvSpPr/>
          <p:nvPr/>
        </p:nvSpPr>
        <p:spPr>
          <a:xfrm>
            <a:off x="4690872" y="2999232"/>
            <a:ext cx="4251960" cy="4206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1" name="Shape 29"/>
          <p:cNvSpPr/>
          <p:nvPr/>
        </p:nvSpPr>
        <p:spPr>
          <a:xfrm>
            <a:off x="4690872" y="2999232"/>
            <a:ext cx="64008" cy="19385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2" name="Text 30"/>
          <p:cNvSpPr/>
          <p:nvPr/>
        </p:nvSpPr>
        <p:spPr>
          <a:xfrm>
            <a:off x="4855464" y="2999232"/>
            <a:ext cx="4050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Visualización  (×1)</a:t>
            </a:r>
            <a:endParaRPr lang="es-ES" sz="1300" noProof="0" dirty="0"/>
          </a:p>
        </p:txBody>
      </p:sp>
      <p:sp>
        <p:nvSpPr>
          <p:cNvPr id="33" name="Text 31"/>
          <p:cNvSpPr/>
          <p:nvPr/>
        </p:nvSpPr>
        <p:spPr>
          <a:xfrm>
            <a:off x="4873752" y="3502152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noProof="0" dirty="0" err="1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AgenteVisualizacion</a:t>
            </a:r>
            <a:endParaRPr lang="es-ES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4873752" y="3803904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 lógica de negocio</a:t>
            </a:r>
            <a:endParaRPr lang="es-ES" sz="1000" noProof="0" dirty="0"/>
          </a:p>
        </p:txBody>
      </p:sp>
      <p:sp>
        <p:nvSpPr>
          <p:cNvPr id="35" name="Text 33"/>
          <p:cNvSpPr/>
          <p:nvPr/>
        </p:nvSpPr>
        <p:spPr>
          <a:xfrm>
            <a:off x="4873752" y="4105656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Imprime informe formateado</a:t>
            </a:r>
            <a:endParaRPr lang="es-ES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4873752" y="440740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Veredicto CONFIABLE / SOSPECHOSO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246888" y="9144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Estructura del proyecto — </a:t>
            </a:r>
            <a:r>
              <a:rPr lang="es-ES" sz="24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Behaviours</a:t>
            </a:r>
            <a:endParaRPr lang="es-ES" sz="2400" noProof="0" dirty="0"/>
          </a:p>
        </p:txBody>
      </p:sp>
      <p:sp>
        <p:nvSpPr>
          <p:cNvPr id="5" name="Shape 3"/>
          <p:cNvSpPr/>
          <p:nvPr/>
        </p:nvSpPr>
        <p:spPr>
          <a:xfrm>
            <a:off x="164592" y="886968"/>
            <a:ext cx="5833872" cy="4005072"/>
          </a:xfrm>
          <a:prstGeom prst="rect">
            <a:avLst/>
          </a:prstGeom>
          <a:solidFill>
            <a:srgbClr val="E0F2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Shape 4"/>
          <p:cNvSpPr/>
          <p:nvPr/>
        </p:nvSpPr>
        <p:spPr>
          <a:xfrm>
            <a:off x="164592" y="886968"/>
            <a:ext cx="5833872" cy="457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Shape 5"/>
          <p:cNvSpPr/>
          <p:nvPr/>
        </p:nvSpPr>
        <p:spPr>
          <a:xfrm>
            <a:off x="164592" y="886968"/>
            <a:ext cx="64008" cy="40050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8" name="Text 6"/>
          <p:cNvSpPr/>
          <p:nvPr/>
        </p:nvSpPr>
        <p:spPr>
          <a:xfrm>
            <a:off x="301752" y="88696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CyclicBehaviour</a:t>
            </a:r>
            <a:endParaRPr lang="es-ES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393191" y="1417320"/>
            <a:ext cx="38047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en bucle continuo esperando mensajes entrantes.</a:t>
            </a:r>
            <a:endParaRPr lang="es-ES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301751" y="2075688"/>
            <a:ext cx="5364757" cy="0"/>
          </a:xfrm>
          <a:prstGeom prst="line">
            <a:avLst/>
          </a:prstGeom>
          <a:noFill/>
          <a:ln w="63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1" name="Text 9"/>
          <p:cNvSpPr/>
          <p:nvPr/>
        </p:nvSpPr>
        <p:spPr>
          <a:xfrm>
            <a:off x="301752" y="21214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b="1" kern="0" spc="100" noProof="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s-ES" sz="850" noProof="0" dirty="0"/>
          </a:p>
        </p:txBody>
      </p:sp>
      <p:sp>
        <p:nvSpPr>
          <p:cNvPr id="12" name="Text 10"/>
          <p:cNvSpPr/>
          <p:nvPr/>
        </p:nvSpPr>
        <p:spPr>
          <a:xfrm>
            <a:off x="301752" y="2423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RecibirNoticiasBehaviour</a:t>
            </a:r>
            <a:endParaRPr lang="es-ES" sz="1000" noProof="0" dirty="0"/>
          </a:p>
        </p:txBody>
      </p:sp>
      <p:sp>
        <p:nvSpPr>
          <p:cNvPr id="13" name="Text 11"/>
          <p:cNvSpPr/>
          <p:nvPr/>
        </p:nvSpPr>
        <p:spPr>
          <a:xfrm>
            <a:off x="301752" y="2752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AnalizarSentimientoBehaviour</a:t>
            </a:r>
            <a:endParaRPr lang="es-ES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301752" y="30815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DetectarSesgoBehaviour</a:t>
            </a:r>
            <a:endParaRPr lang="es-ES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301752" y="34107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VerificarFuenteBehaviour</a:t>
            </a:r>
            <a:endParaRPr lang="es-ES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301752" y="3739896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AgregarResultadosBehaviour</a:t>
            </a:r>
            <a:endParaRPr lang="es-ES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3081528" y="2752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ActualizarUIBehaviour</a:t>
            </a:r>
            <a:endParaRPr lang="es-ES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2962656" y="4103716"/>
            <a:ext cx="2992028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19" name="Shape 17"/>
          <p:cNvSpPr/>
          <p:nvPr/>
        </p:nvSpPr>
        <p:spPr>
          <a:xfrm>
            <a:off x="5927598" y="4103716"/>
            <a:ext cx="54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20" name="Text 18"/>
          <p:cNvSpPr/>
          <p:nvPr/>
        </p:nvSpPr>
        <p:spPr>
          <a:xfrm>
            <a:off x="2946654" y="4103716"/>
            <a:ext cx="298517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AgregarResultadosBehaviour</a:t>
            </a:r>
            <a:r>
              <a:rPr lang="es-ES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 </a:t>
            </a:r>
            <a:r>
              <a:rPr lang="es-ES" sz="900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blockingReceive</a:t>
            </a:r>
            <a:r>
              <a:rPr lang="es-ES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× 3 — requisito clave del enunciado</a:t>
            </a:r>
            <a:endParaRPr lang="es-ES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6163056" y="886968"/>
            <a:ext cx="2834640" cy="40050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6" name="Shape 34"/>
          <p:cNvSpPr/>
          <p:nvPr/>
        </p:nvSpPr>
        <p:spPr>
          <a:xfrm>
            <a:off x="6163056" y="886968"/>
            <a:ext cx="283464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7" name="Shape 35"/>
          <p:cNvSpPr/>
          <p:nvPr/>
        </p:nvSpPr>
        <p:spPr>
          <a:xfrm>
            <a:off x="6163056" y="886968"/>
            <a:ext cx="64008" cy="40050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8" name="Text 36"/>
          <p:cNvSpPr/>
          <p:nvPr/>
        </p:nvSpPr>
        <p:spPr>
          <a:xfrm>
            <a:off x="6300216" y="886968"/>
            <a:ext cx="2670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noProof="0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TickerBehaviour</a:t>
            </a:r>
            <a:endParaRPr lang="es-ES" sz="1300" noProof="0" dirty="0"/>
          </a:p>
        </p:txBody>
      </p:sp>
      <p:sp>
        <p:nvSpPr>
          <p:cNvPr id="39" name="Text 37"/>
          <p:cNvSpPr/>
          <p:nvPr/>
        </p:nvSpPr>
        <p:spPr>
          <a:xfrm>
            <a:off x="6300216" y="14173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periódicamente cada N ms (por defecto 10 000 ms).</a:t>
            </a:r>
            <a:endParaRPr lang="es-ES" sz="1100" noProof="0" dirty="0"/>
          </a:p>
        </p:txBody>
      </p:sp>
      <p:sp>
        <p:nvSpPr>
          <p:cNvPr id="40" name="Shape 38"/>
          <p:cNvSpPr/>
          <p:nvPr/>
        </p:nvSpPr>
        <p:spPr>
          <a:xfrm>
            <a:off x="6300216" y="2075688"/>
            <a:ext cx="2560320" cy="0"/>
          </a:xfrm>
          <a:prstGeom prst="line">
            <a:avLst/>
          </a:prstGeom>
          <a:noFill/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1" name="Text 39"/>
          <p:cNvSpPr/>
          <p:nvPr/>
        </p:nvSpPr>
        <p:spPr>
          <a:xfrm>
            <a:off x="6300216" y="2121408"/>
            <a:ext cx="26334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b="1" kern="0" spc="100" noProof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</a:t>
            </a:r>
            <a:endParaRPr lang="es-ES" sz="850" noProof="0" dirty="0"/>
          </a:p>
        </p:txBody>
      </p:sp>
      <p:sp>
        <p:nvSpPr>
          <p:cNvPr id="42" name="Text 40"/>
          <p:cNvSpPr/>
          <p:nvPr/>
        </p:nvSpPr>
        <p:spPr>
          <a:xfrm>
            <a:off x="6300216" y="242316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ObtenerNoticiasBehaviour</a:t>
            </a:r>
            <a:endParaRPr lang="es-ES" sz="1000" noProof="0" dirty="0"/>
          </a:p>
        </p:txBody>
      </p:sp>
      <p:sp>
        <p:nvSpPr>
          <p:cNvPr id="43" name="Text 41"/>
          <p:cNvSpPr/>
          <p:nvPr/>
        </p:nvSpPr>
        <p:spPr>
          <a:xfrm>
            <a:off x="6300216" y="27523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ObtenerNoticiasFicheroBehaviour</a:t>
            </a:r>
            <a:endParaRPr lang="es-ES" sz="1000" noProof="0" dirty="0"/>
          </a:p>
        </p:txBody>
      </p:sp>
      <p:sp>
        <p:nvSpPr>
          <p:cNvPr id="44" name="Text 42"/>
          <p:cNvSpPr/>
          <p:nvPr/>
        </p:nvSpPr>
        <p:spPr>
          <a:xfrm>
            <a:off x="6300216" y="308152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ObtenerNoticiasRSSBehaviour</a:t>
            </a:r>
            <a:endParaRPr lang="es-ES" sz="1000" noProof="0" dirty="0"/>
          </a:p>
        </p:txBody>
      </p:sp>
      <p:sp>
        <p:nvSpPr>
          <p:cNvPr id="45" name="Text 43"/>
          <p:cNvSpPr/>
          <p:nvPr/>
        </p:nvSpPr>
        <p:spPr>
          <a:xfrm>
            <a:off x="6300216" y="3410712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ObtenerNoticiasAPIBehaviour</a:t>
            </a:r>
            <a:endParaRPr lang="es-ES" sz="1000" noProof="0" dirty="0"/>
          </a:p>
        </p:txBody>
      </p:sp>
      <p:sp>
        <p:nvSpPr>
          <p:cNvPr id="46" name="Shape 44"/>
          <p:cNvSpPr/>
          <p:nvPr/>
        </p:nvSpPr>
        <p:spPr>
          <a:xfrm>
            <a:off x="6254496" y="4206240"/>
            <a:ext cx="2679192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7" name="Shape 45"/>
          <p:cNvSpPr/>
          <p:nvPr/>
        </p:nvSpPr>
        <p:spPr>
          <a:xfrm>
            <a:off x="6254496" y="4206240"/>
            <a:ext cx="5486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8" name="Text 46"/>
          <p:cNvSpPr/>
          <p:nvPr/>
        </p:nvSpPr>
        <p:spPr>
          <a:xfrm>
            <a:off x="6364224" y="4206240"/>
            <a:ext cx="2542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de adquisición arranca con retraso para no saturar el coordinador</a:t>
            </a:r>
            <a:endParaRPr lang="es-ES" sz="900" noProof="0" dirty="0"/>
          </a:p>
        </p:txBody>
      </p:sp>
      <p:sp>
        <p:nvSpPr>
          <p:cNvPr id="49" name="Text 26"/>
          <p:cNvSpPr/>
          <p:nvPr/>
        </p:nvSpPr>
        <p:spPr>
          <a:xfrm>
            <a:off x="3081528" y="2393787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noProof="0" dirty="0" err="1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DelegarAnalisisBehaviour</a:t>
            </a:r>
            <a:endParaRPr lang="es-ES" sz="1000" b="1" noProof="0" dirty="0">
              <a:solidFill>
                <a:srgbClr val="0C4A6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2655224" y="2254827"/>
            <a:ext cx="3833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Demo en vivo</a:t>
            </a:r>
            <a:endParaRPr lang="es-ES" sz="32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Presentación en pantalla (16:9)</PresentationFormat>
  <Paragraphs>139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Detector — JADE</dc:title>
  <dc:subject>PptxGenJS Presentation</dc:subject>
  <dc:creator>Grupo SSII</dc:creator>
  <cp:lastModifiedBy>IRENE QUESADA TELLEZ</cp:lastModifiedBy>
  <cp:revision>3</cp:revision>
  <dcterms:created xsi:type="dcterms:W3CDTF">2026-05-24T23:44:37Z</dcterms:created>
  <dcterms:modified xsi:type="dcterms:W3CDTF">2026-05-25T16:31:13Z</dcterms:modified>
</cp:coreProperties>
</file>